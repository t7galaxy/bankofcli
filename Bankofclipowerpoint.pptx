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1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2895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502920" cy="914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CLI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5204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terminal banking application in Java, Postgres, and Maven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206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 •   ARCHITECTURE   •   TECH STACK   •   ERROR HANDLING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0040" cy="7315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058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81051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Access: </a:t>
            </a:r>
            <a:r>
              <a:rPr lang="en-US" sz="12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must register and log in using a unique </a:t>
            </a:r>
            <a:r>
              <a:rPr lang="en-US" sz="1200" dirty="0">
                <a:solidFill>
                  <a:srgbClr val="00A896"/>
                </a:solidFill>
                <a:highlight>
                  <a:srgbClr val="26313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Account ID </a:t>
            </a:r>
            <a:r>
              <a:rPr lang="en-US" sz="12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00" dirty="0">
                <a:solidFill>
                  <a:srgbClr val="00A896"/>
                </a:solidFill>
                <a:highlight>
                  <a:srgbClr val="26313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PIN </a:t>
            </a:r>
            <a:r>
              <a:rPr lang="en-US" sz="12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26771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Management: </a:t>
            </a:r>
            <a:r>
              <a:rPr lang="en-US" sz="12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check their current account balance at any time.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72491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 Engine: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12724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896"/>
                </a:solidFill>
                <a:highlight>
                  <a:srgbClr val="26313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Deposit </a:t>
            </a:r>
            <a:r>
              <a:rPr lang="en-US" sz="12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Add funds to an account.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49300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896"/>
                </a:solidFill>
                <a:highlight>
                  <a:srgbClr val="26313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Withdraw </a:t>
            </a:r>
            <a:r>
              <a:rPr lang="en-US" sz="12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Remove funds (the system must prevent overdrawing!).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85876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896"/>
                </a:solidFill>
                <a:highlight>
                  <a:srgbClr val="26313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Transfer </a:t>
            </a:r>
            <a:r>
              <a:rPr lang="en-US" sz="12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Move money securely between two different accounts.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3159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315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2976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Trail: </a:t>
            </a:r>
            <a:r>
              <a:rPr lang="en-US" sz="12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view their recent transaction history.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7731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7548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Logging: </a:t>
            </a:r>
            <a:r>
              <a:rPr lang="en-US" sz="12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must maintain a log file to track activity. You are required to use: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515721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896"/>
                </a:solidFill>
                <a:highlight>
                  <a:srgbClr val="26313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INFO </a:t>
            </a:r>
            <a:r>
              <a:rPr lang="en-US" sz="12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 record successful actions (e.g., “User successfully logged in”).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552297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896"/>
                </a:solidFill>
                <a:highlight>
                  <a:srgbClr val="26313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 </a:t>
            </a:r>
            <a:r>
              <a:rPr lang="en-US" sz="12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 record failures or security risks (e.g., “Incorrect PIN entered” or “Database connection lost”).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0040" cy="7315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058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multi-layered layout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0C0F13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49808" y="1883664"/>
            <a:ext cx="5541264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com.Bankofcli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api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Main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domain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Account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Transaction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persistence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impl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 AccountDAOImpl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 ConnectionFactory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 TransactionDAOImpl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</a:t>
            </a:r>
            <a:r>
              <a:rPr lang="en-US" sz="1000" dirty="0" err="1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AccountDAO</a:t>
            </a:r>
            <a:endParaRPr lang="en-US" sz="1000" dirty="0"/>
          </a:p>
          <a:p>
            <a:pPr>
              <a:lnSpc>
                <a:spcPts val="1300"/>
              </a:lnSpc>
            </a:pPr>
            <a:r>
              <a:rPr lang="en-US" sz="1000" dirty="0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</a:t>
            </a:r>
            <a:r>
              <a:rPr lang="en-US" sz="1000" dirty="0" err="1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TransactionDAO</a:t>
            </a:r>
            <a:endParaRPr lang="en-US" sz="1000" dirty="0">
              <a:solidFill>
                <a:srgbClr val="8FE3D6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Custom Exceptions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service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impl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 </a:t>
            </a:r>
            <a:r>
              <a:rPr lang="en-US" sz="1000" dirty="0" err="1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AccountServiceImpl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</a:t>
            </a:r>
            <a:r>
              <a:rPr lang="en-US" sz="1000" dirty="0" err="1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AccountService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 Custom Exceptions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17627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— Main is the terminal menu and composition root.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880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322783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entities: Account, Transaction. No outside imports.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427939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Vault — DAOs, Postgres impls, and connection/data-access exceptions.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4983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533095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Brains — AccountService, its implementation, and four business exceptions.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0040" cy="7315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058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 Code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46520" y="1600200"/>
            <a:ext cx="4663440" cy="4663440"/>
          </a:xfrm>
          <a:prstGeom prst="ellipse">
            <a:avLst/>
          </a:prstGeom>
          <a:solidFill>
            <a:srgbClr val="0F2A28"/>
          </a:solidFill>
          <a:ln w="25400">
            <a:solidFill>
              <a:srgbClr val="1418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95160" y="2148840"/>
            <a:ext cx="3566160" cy="3566160"/>
          </a:xfrm>
          <a:prstGeom prst="ellipse">
            <a:avLst/>
          </a:prstGeom>
          <a:solidFill>
            <a:srgbClr val="146F63"/>
          </a:solidFill>
          <a:ln w="25400">
            <a:solidFill>
              <a:srgbClr val="1418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43800" y="2697480"/>
            <a:ext cx="2468880" cy="2468880"/>
          </a:xfrm>
          <a:prstGeom prst="ellipse">
            <a:avLst/>
          </a:prstGeom>
          <a:solidFill>
            <a:srgbClr val="12A08D"/>
          </a:solidFill>
          <a:ln w="25400">
            <a:solidFill>
              <a:srgbClr val="1418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092440" y="3246120"/>
            <a:ext cx="1371600" cy="137160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1418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406640" y="181704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2351687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916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22199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9260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25526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AccountService — the banking rules, in the service package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8862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1538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AccountDAO / TransactionDAO interfaces, in persistence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7550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and transaction in the domain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0040" cy="7315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058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 stack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Bank of CLI is built on a small, deliberate set of tools.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1F262E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all layers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73736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1F262E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management via pom.xml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73736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1F262E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582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database, run in Docker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1F262E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3891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PreparedStatement + ResultSet, no ORM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89120" y="352044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1F262E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1772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617720" y="43891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&amp; negative tests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352044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1F262E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4582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915400" y="4571999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37" name="Picture 36" descr="Java Logo transparent png 22100210 PNG">
            <a:extLst>
              <a:ext uri="{FF2B5EF4-FFF2-40B4-BE49-F238E27FC236}">
                <a16:creationId xmlns:a16="http://schemas.microsoft.com/office/drawing/2014/main" id="{8BCFFE64-EDC4-AE2D-4E22-87669D4AB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1447178"/>
            <a:ext cx="1594835" cy="1594835"/>
          </a:xfrm>
          <a:prstGeom prst="rect">
            <a:avLst/>
          </a:prstGeom>
        </p:spPr>
      </p:pic>
      <p:pic>
        <p:nvPicPr>
          <p:cNvPr id="43" name="Picture 42" descr="EditorConfig">
            <a:extLst>
              <a:ext uri="{FF2B5EF4-FFF2-40B4-BE49-F238E27FC236}">
                <a16:creationId xmlns:a16="http://schemas.microsoft.com/office/drawing/2014/main" id="{1403B4E6-1B64-429B-CABA-E11B92535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82496"/>
            <a:ext cx="1158240" cy="1158240"/>
          </a:xfrm>
          <a:prstGeom prst="rect">
            <a:avLst/>
          </a:prstGeom>
        </p:spPr>
      </p:pic>
      <p:pic>
        <p:nvPicPr>
          <p:cNvPr id="44" name="Picture 43" descr="Postgres Logo">
            <a:extLst>
              <a:ext uri="{FF2B5EF4-FFF2-40B4-BE49-F238E27FC236}">
                <a16:creationId xmlns:a16="http://schemas.microsoft.com/office/drawing/2014/main" id="{718B406B-E086-58F4-0432-10EAD60E4F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4125" y="1645920"/>
            <a:ext cx="1951070" cy="1300713"/>
          </a:xfrm>
          <a:prstGeom prst="rect">
            <a:avLst/>
          </a:prstGeom>
        </p:spPr>
      </p:pic>
      <p:pic>
        <p:nvPicPr>
          <p:cNvPr id="45" name="Picture 44" descr="Jdbc Logo">
            <a:extLst>
              <a:ext uri="{FF2B5EF4-FFF2-40B4-BE49-F238E27FC236}">
                <a16:creationId xmlns:a16="http://schemas.microsoft.com/office/drawing/2014/main" id="{18507A4C-FC2F-A412-7B0B-9FAA1E9794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520440"/>
            <a:ext cx="2028646" cy="1081945"/>
          </a:xfrm>
          <a:prstGeom prst="rect">
            <a:avLst/>
          </a:prstGeom>
        </p:spPr>
      </p:pic>
      <p:pic>
        <p:nvPicPr>
          <p:cNvPr id="47" name="Picture 46" descr="JUnit Software Testing Spring Framework Unit testing Java, others, text ...">
            <a:extLst>
              <a:ext uri="{FF2B5EF4-FFF2-40B4-BE49-F238E27FC236}">
                <a16:creationId xmlns:a16="http://schemas.microsoft.com/office/drawing/2014/main" id="{5D50F424-AEC5-7449-ADE9-B061E0475B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207" y="3721608"/>
            <a:ext cx="1712945" cy="590014"/>
          </a:xfrm>
          <a:prstGeom prst="rect">
            <a:avLst/>
          </a:prstGeom>
        </p:spPr>
      </p:pic>
      <p:pic>
        <p:nvPicPr>
          <p:cNvPr id="48" name="Picture 47" descr="Github Logo PNG Images Transparent Free Download">
            <a:extLst>
              <a:ext uri="{FF2B5EF4-FFF2-40B4-BE49-F238E27FC236}">
                <a16:creationId xmlns:a16="http://schemas.microsoft.com/office/drawing/2014/main" id="{6FFF2A55-C20C-B435-5A79-3E1909766D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7991" y="3545167"/>
            <a:ext cx="1788989" cy="10063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0040" cy="7315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058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984171" y="621792"/>
            <a:ext cx="7354388" cy="5620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401</Words>
  <Application>Microsoft Office PowerPoint</Application>
  <PresentationFormat>Widescreen</PresentationFormat>
  <Paragraphs>90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Tanis Morgan</cp:lastModifiedBy>
  <cp:revision>2</cp:revision>
  <dcterms:created xsi:type="dcterms:W3CDTF">2026-09-25T16:37:51Z</dcterms:created>
  <dcterms:modified xsi:type="dcterms:W3CDTF">2026-09-26T01:15:36Z</dcterms:modified>
</cp:coreProperties>
</file>